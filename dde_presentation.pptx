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58" r:id="rId5"/>
    <p:sldId id="259" r:id="rId6"/>
    <p:sldId id="261" r:id="rId7"/>
    <p:sldId id="262" r:id="rId8"/>
    <p:sldId id="263" r:id="rId9"/>
    <p:sldId id="264" r:id="rId10"/>
  </p:sldIdLst>
  <p:sldSz cx="14401800" cy="8101013"/>
  <p:notesSz cx="6858000" cy="9144000"/>
  <p:defaultTextStyle>
    <a:defPPr>
      <a:defRPr lang="ru-RU"/>
    </a:defPPr>
    <a:lvl1pPr marL="0" algn="l" defTabSz="1296071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1pPr>
    <a:lvl2pPr marL="648035" algn="l" defTabSz="1296071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2pPr>
    <a:lvl3pPr marL="1296071" algn="l" defTabSz="1296071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3pPr>
    <a:lvl4pPr marL="1944106" algn="l" defTabSz="1296071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4pPr>
    <a:lvl5pPr marL="2592141" algn="l" defTabSz="1296071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5pPr>
    <a:lvl6pPr marL="3240176" algn="l" defTabSz="1296071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6pPr>
    <a:lvl7pPr marL="3888212" algn="l" defTabSz="1296071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7pPr>
    <a:lvl8pPr marL="4536247" algn="l" defTabSz="1296071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8pPr>
    <a:lvl9pPr marL="5184282" algn="l" defTabSz="1296071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102" y="-1158"/>
      </p:cViewPr>
      <p:guideLst>
        <p:guide orient="horz" pos="2552"/>
        <p:guide pos="45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80135" y="2516567"/>
            <a:ext cx="12241530" cy="173646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160270" y="4590575"/>
            <a:ext cx="10081260" cy="2070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48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960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441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5921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40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8882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362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1842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37643" y="5205653"/>
            <a:ext cx="12241530" cy="1608950"/>
          </a:xfrm>
        </p:spPr>
        <p:txBody>
          <a:bodyPr anchor="t"/>
          <a:lstStyle>
            <a:lvl1pPr algn="l">
              <a:defRPr sz="57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137643" y="3433556"/>
            <a:ext cx="12241530" cy="1772096"/>
          </a:xfrm>
        </p:spPr>
        <p:txBody>
          <a:bodyPr anchor="b"/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648035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296071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 marL="19441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marL="259214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marL="324017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marL="38882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marL="453624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marL="51842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720092" y="1890237"/>
            <a:ext cx="6360795" cy="5346294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8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7320917" y="1890237"/>
            <a:ext cx="6360795" cy="5346294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8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0090" y="1813352"/>
            <a:ext cx="6363296" cy="755719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48035" indent="0">
              <a:buNone/>
              <a:defRPr sz="2800" b="1"/>
            </a:lvl2pPr>
            <a:lvl3pPr marL="1296071" indent="0">
              <a:buNone/>
              <a:defRPr sz="2600" b="1"/>
            </a:lvl3pPr>
            <a:lvl4pPr marL="1944106" indent="0">
              <a:buNone/>
              <a:defRPr sz="2300" b="1"/>
            </a:lvl4pPr>
            <a:lvl5pPr marL="2592141" indent="0">
              <a:buNone/>
              <a:defRPr sz="2300" b="1"/>
            </a:lvl5pPr>
            <a:lvl6pPr marL="3240176" indent="0">
              <a:buNone/>
              <a:defRPr sz="2300" b="1"/>
            </a:lvl6pPr>
            <a:lvl7pPr marL="3888212" indent="0">
              <a:buNone/>
              <a:defRPr sz="2300" b="1"/>
            </a:lvl7pPr>
            <a:lvl8pPr marL="4536247" indent="0">
              <a:buNone/>
              <a:defRPr sz="2300" b="1"/>
            </a:lvl8pPr>
            <a:lvl9pPr marL="5184282" indent="0">
              <a:buNone/>
              <a:defRPr sz="23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720090" y="2569072"/>
            <a:ext cx="6363296" cy="4667459"/>
          </a:xfrm>
        </p:spPr>
        <p:txBody>
          <a:bodyPr/>
          <a:lstStyle>
            <a:lvl1pPr>
              <a:defRPr sz="3400"/>
            </a:lvl1pPr>
            <a:lvl2pPr>
              <a:defRPr sz="28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7315915" y="1813352"/>
            <a:ext cx="6365796" cy="755719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48035" indent="0">
              <a:buNone/>
              <a:defRPr sz="2800" b="1"/>
            </a:lvl2pPr>
            <a:lvl3pPr marL="1296071" indent="0">
              <a:buNone/>
              <a:defRPr sz="2600" b="1"/>
            </a:lvl3pPr>
            <a:lvl4pPr marL="1944106" indent="0">
              <a:buNone/>
              <a:defRPr sz="2300" b="1"/>
            </a:lvl4pPr>
            <a:lvl5pPr marL="2592141" indent="0">
              <a:buNone/>
              <a:defRPr sz="2300" b="1"/>
            </a:lvl5pPr>
            <a:lvl6pPr marL="3240176" indent="0">
              <a:buNone/>
              <a:defRPr sz="2300" b="1"/>
            </a:lvl6pPr>
            <a:lvl7pPr marL="3888212" indent="0">
              <a:buNone/>
              <a:defRPr sz="2300" b="1"/>
            </a:lvl7pPr>
            <a:lvl8pPr marL="4536247" indent="0">
              <a:buNone/>
              <a:defRPr sz="2300" b="1"/>
            </a:lvl8pPr>
            <a:lvl9pPr marL="5184282" indent="0">
              <a:buNone/>
              <a:defRPr sz="23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7315915" y="2569072"/>
            <a:ext cx="6365796" cy="4667459"/>
          </a:xfrm>
        </p:spPr>
        <p:txBody>
          <a:bodyPr/>
          <a:lstStyle>
            <a:lvl1pPr>
              <a:defRPr sz="3400"/>
            </a:lvl1pPr>
            <a:lvl2pPr>
              <a:defRPr sz="28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0093" y="322539"/>
            <a:ext cx="4738093" cy="1372672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630704" y="322542"/>
            <a:ext cx="8051006" cy="6913990"/>
          </a:xfrm>
        </p:spPr>
        <p:txBody>
          <a:bodyPr/>
          <a:lstStyle>
            <a:lvl1pPr>
              <a:defRPr sz="4500"/>
            </a:lvl1pPr>
            <a:lvl2pPr>
              <a:defRPr sz="4000"/>
            </a:lvl2pPr>
            <a:lvl3pPr>
              <a:defRPr sz="34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20093" y="1695213"/>
            <a:ext cx="4738093" cy="5541318"/>
          </a:xfrm>
        </p:spPr>
        <p:txBody>
          <a:bodyPr/>
          <a:lstStyle>
            <a:lvl1pPr marL="0" indent="0">
              <a:buNone/>
              <a:defRPr sz="2000"/>
            </a:lvl1pPr>
            <a:lvl2pPr marL="648035" indent="0">
              <a:buNone/>
              <a:defRPr sz="1700"/>
            </a:lvl2pPr>
            <a:lvl3pPr marL="1296071" indent="0">
              <a:buNone/>
              <a:defRPr sz="1400"/>
            </a:lvl3pPr>
            <a:lvl4pPr marL="1944106" indent="0">
              <a:buNone/>
              <a:defRPr sz="1300"/>
            </a:lvl4pPr>
            <a:lvl5pPr marL="2592141" indent="0">
              <a:buNone/>
              <a:defRPr sz="1300"/>
            </a:lvl5pPr>
            <a:lvl6pPr marL="3240176" indent="0">
              <a:buNone/>
              <a:defRPr sz="1300"/>
            </a:lvl6pPr>
            <a:lvl7pPr marL="3888212" indent="0">
              <a:buNone/>
              <a:defRPr sz="1300"/>
            </a:lvl7pPr>
            <a:lvl8pPr marL="4536247" indent="0">
              <a:buNone/>
              <a:defRPr sz="1300"/>
            </a:lvl8pPr>
            <a:lvl9pPr marL="5184282" indent="0">
              <a:buNone/>
              <a:defRPr sz="13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22854" y="5670710"/>
            <a:ext cx="8641080" cy="669459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822854" y="723841"/>
            <a:ext cx="8641080" cy="4860608"/>
          </a:xfrm>
        </p:spPr>
        <p:txBody>
          <a:bodyPr/>
          <a:lstStyle>
            <a:lvl1pPr marL="0" indent="0">
              <a:buNone/>
              <a:defRPr sz="4500"/>
            </a:lvl1pPr>
            <a:lvl2pPr marL="648035" indent="0">
              <a:buNone/>
              <a:defRPr sz="4000"/>
            </a:lvl2pPr>
            <a:lvl3pPr marL="1296071" indent="0">
              <a:buNone/>
              <a:defRPr sz="3400"/>
            </a:lvl3pPr>
            <a:lvl4pPr marL="1944106" indent="0">
              <a:buNone/>
              <a:defRPr sz="2800"/>
            </a:lvl4pPr>
            <a:lvl5pPr marL="2592141" indent="0">
              <a:buNone/>
              <a:defRPr sz="2800"/>
            </a:lvl5pPr>
            <a:lvl6pPr marL="3240176" indent="0">
              <a:buNone/>
              <a:defRPr sz="2800"/>
            </a:lvl6pPr>
            <a:lvl7pPr marL="3888212" indent="0">
              <a:buNone/>
              <a:defRPr sz="2800"/>
            </a:lvl7pPr>
            <a:lvl8pPr marL="4536247" indent="0">
              <a:buNone/>
              <a:defRPr sz="2800"/>
            </a:lvl8pPr>
            <a:lvl9pPr marL="5184282" indent="0">
              <a:buNone/>
              <a:defRPr sz="28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822854" y="6340169"/>
            <a:ext cx="8641080" cy="950743"/>
          </a:xfrm>
        </p:spPr>
        <p:txBody>
          <a:bodyPr/>
          <a:lstStyle>
            <a:lvl1pPr marL="0" indent="0">
              <a:buNone/>
              <a:defRPr sz="2000"/>
            </a:lvl1pPr>
            <a:lvl2pPr marL="648035" indent="0">
              <a:buNone/>
              <a:defRPr sz="1700"/>
            </a:lvl2pPr>
            <a:lvl3pPr marL="1296071" indent="0">
              <a:buNone/>
              <a:defRPr sz="1400"/>
            </a:lvl3pPr>
            <a:lvl4pPr marL="1944106" indent="0">
              <a:buNone/>
              <a:defRPr sz="1300"/>
            </a:lvl4pPr>
            <a:lvl5pPr marL="2592141" indent="0">
              <a:buNone/>
              <a:defRPr sz="1300"/>
            </a:lvl5pPr>
            <a:lvl6pPr marL="3240176" indent="0">
              <a:buNone/>
              <a:defRPr sz="1300"/>
            </a:lvl6pPr>
            <a:lvl7pPr marL="3888212" indent="0">
              <a:buNone/>
              <a:defRPr sz="1300"/>
            </a:lvl7pPr>
            <a:lvl8pPr marL="4536247" indent="0">
              <a:buNone/>
              <a:defRPr sz="1300"/>
            </a:lvl8pPr>
            <a:lvl9pPr marL="5184282" indent="0">
              <a:buNone/>
              <a:defRPr sz="13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10441307" y="324417"/>
            <a:ext cx="3240405" cy="691211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20092" y="324417"/>
            <a:ext cx="9481185" cy="691211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0090" y="324417"/>
            <a:ext cx="12961620" cy="1350169"/>
          </a:xfrm>
          <a:prstGeom prst="rect">
            <a:avLst/>
          </a:prstGeom>
        </p:spPr>
        <p:txBody>
          <a:bodyPr vert="horz" lIns="129607" tIns="64804" rIns="129607" bIns="64804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0090" y="1890237"/>
            <a:ext cx="12961620" cy="5346294"/>
          </a:xfrm>
          <a:prstGeom prst="rect">
            <a:avLst/>
          </a:prstGeom>
        </p:spPr>
        <p:txBody>
          <a:bodyPr vert="horz" lIns="129607" tIns="64804" rIns="129607" bIns="64804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20090" y="7508439"/>
            <a:ext cx="3360420" cy="431305"/>
          </a:xfrm>
          <a:prstGeom prst="rect">
            <a:avLst/>
          </a:prstGeom>
        </p:spPr>
        <p:txBody>
          <a:bodyPr vert="horz" lIns="129607" tIns="64804" rIns="129607" bIns="64804" rtlCol="0" anchor="ctr"/>
          <a:lstStyle>
            <a:lvl1pPr algn="l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920615" y="7508439"/>
            <a:ext cx="4560570" cy="431305"/>
          </a:xfrm>
          <a:prstGeom prst="rect">
            <a:avLst/>
          </a:prstGeom>
        </p:spPr>
        <p:txBody>
          <a:bodyPr vert="horz" lIns="129607" tIns="64804" rIns="129607" bIns="64804" rtlCol="0" anchor="ctr"/>
          <a:lstStyle>
            <a:lvl1pPr algn="ct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321290" y="7508439"/>
            <a:ext cx="3360420" cy="431305"/>
          </a:xfrm>
          <a:prstGeom prst="rect">
            <a:avLst/>
          </a:prstGeom>
        </p:spPr>
        <p:txBody>
          <a:bodyPr vert="horz" lIns="129607" tIns="64804" rIns="129607" bIns="64804" rtlCol="0" anchor="ctr"/>
          <a:lstStyle>
            <a:lvl1pPr algn="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96071" rtl="0" eaLnBrk="1" latinLnBrk="0" hangingPunct="1">
        <a:spcBef>
          <a:spcPct val="0"/>
        </a:spcBef>
        <a:buNone/>
        <a:defRPr sz="6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6026" indent="-486026" algn="l" defTabSz="1296071" rtl="0" eaLnBrk="1" latinLnBrk="0" hangingPunct="1">
        <a:spcBef>
          <a:spcPct val="20000"/>
        </a:spcBef>
        <a:buFont typeface="Arial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1pPr>
      <a:lvl2pPr marL="1053057" indent="-405022" algn="l" defTabSz="1296071" rtl="0" eaLnBrk="1" latinLnBrk="0" hangingPunct="1">
        <a:spcBef>
          <a:spcPct val="20000"/>
        </a:spcBef>
        <a:buFont typeface="Arial" pitchFamily="34" charset="0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620088" indent="-324018" algn="l" defTabSz="1296071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2268123" indent="-324018" algn="l" defTabSz="1296071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916159" indent="-324018" algn="l" defTabSz="1296071" rtl="0" eaLnBrk="1" latinLnBrk="0" hangingPunct="1">
        <a:spcBef>
          <a:spcPct val="20000"/>
        </a:spcBef>
        <a:buFont typeface="Arial" pitchFamily="34" charset="0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3564194" indent="-324018" algn="l" defTabSz="1296071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4212229" indent="-324018" algn="l" defTabSz="1296071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4860265" indent="-324018" algn="l" defTabSz="1296071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5508300" indent="-324018" algn="l" defTabSz="1296071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9607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8035" algn="l" defTabSz="129607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296071" algn="l" defTabSz="129607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44106" algn="l" defTabSz="129607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592141" algn="l" defTabSz="129607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40176" algn="l" defTabSz="129607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212" algn="l" defTabSz="129607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36247" algn="l" defTabSz="129607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184282" algn="l" defTabSz="129607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/>
          <p:cNvSpPr/>
          <p:nvPr/>
        </p:nvSpPr>
        <p:spPr>
          <a:xfrm>
            <a:off x="793790" y="2380891"/>
            <a:ext cx="7556421" cy="930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600" dirty="0" err="1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Как</a:t>
            </a:r>
            <a:r>
              <a:rPr lang="en-US" sz="3600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метеоданные меняют наш мир</a:t>
            </a:r>
          </a:p>
        </p:txBody>
      </p:sp>
      <p:sp>
        <p:nvSpPr>
          <p:cNvPr id="12" name="Text 1"/>
          <p:cNvSpPr/>
          <p:nvPr/>
        </p:nvSpPr>
        <p:spPr>
          <a:xfrm>
            <a:off x="793790" y="4241125"/>
            <a:ext cx="7556421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В этой презентации мы рассмотрим, как использование данных о </a:t>
            </a:r>
            <a:r>
              <a:rPr lang="en-US" sz="2000" dirty="0" err="1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погоде</a:t>
            </a:r>
            <a:r>
              <a:rPr lang="en-US" sz="20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может трансформировать различные сферы </a:t>
            </a:r>
            <a:r>
              <a:rPr lang="en-US" sz="2000" dirty="0" err="1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нашей</a:t>
            </a: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жизни</a:t>
            </a:r>
            <a:r>
              <a:rPr lang="ru-RU" sz="20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о</a:t>
            </a:r>
            <a:r>
              <a:rPr lang="en-US" sz="20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т </a:t>
            </a: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персонализированных рекомендаций до </a:t>
            </a:r>
            <a:r>
              <a:rPr lang="en-US" sz="2000" dirty="0" err="1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оптимизации</a:t>
            </a: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логистики</a:t>
            </a:r>
            <a:r>
              <a:rPr lang="ru-RU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.</a:t>
            </a:r>
            <a:r>
              <a:rPr lang="en-US" sz="20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</a:t>
            </a:r>
            <a:r>
              <a:rPr lang="ru-RU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М</a:t>
            </a:r>
            <a:r>
              <a:rPr lang="en-US" sz="2000" dirty="0" err="1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етеорологические</a:t>
            </a:r>
            <a:r>
              <a:rPr lang="en-US" sz="20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данные являются ключевым фактором для принятия обоснованных решений.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Безопасность во время грозы - Стоп угроза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67" r="14364"/>
          <a:stretch/>
        </p:blipFill>
        <p:spPr bwMode="auto">
          <a:xfrm>
            <a:off x="9145116" y="0"/>
            <a:ext cx="5268044" cy="818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5465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648172" y="594122"/>
            <a:ext cx="12169352" cy="992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900"/>
              </a:lnSpc>
            </a:pPr>
            <a:r>
              <a:rPr lang="ru-RU" sz="3600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Н</a:t>
            </a:r>
            <a:r>
              <a:rPr lang="en-US" sz="3600" dirty="0" err="1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аш</a:t>
            </a:r>
            <a:r>
              <a:rPr lang="en-US" sz="3600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источник </a:t>
            </a:r>
            <a:r>
              <a:rPr lang="en-US" sz="3600" dirty="0" err="1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погодных</a:t>
            </a:r>
            <a:r>
              <a:rPr lang="en-US" sz="3600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данных</a:t>
            </a:r>
            <a:r>
              <a:rPr lang="ru-RU" sz="3600" dirty="0" smtClean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smtClean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Open-</a:t>
            </a:r>
            <a:r>
              <a:rPr lang="en-US" sz="3600" dirty="0" err="1" smtClean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Meteo</a:t>
            </a:r>
            <a:r>
              <a:rPr lang="en-US" sz="3600" dirty="0" smtClean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API </a:t>
            </a:r>
            <a:endParaRPr lang="en-US" sz="3600" dirty="0">
              <a:solidFill>
                <a:srgbClr val="201B18"/>
              </a:solidFill>
              <a:latin typeface="Times New Roman" panose="02020603050405020304" pitchFamily="18" charset="0"/>
              <a:ea typeface="Platypi Medium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66731" y="3604141"/>
            <a:ext cx="755642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Open-Meteo API предоставляет доступ к обширному спектру как прогнозных, так и исторических погодных данных. Эти данные разделены на две основные категории: </a:t>
            </a:r>
            <a:r>
              <a:rPr lang="en-US" sz="2000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метеорологические</a:t>
            </a: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и </a:t>
            </a:r>
            <a:r>
              <a:rPr lang="en-US" sz="2000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воздушные</a:t>
            </a: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параметры, что позволяет получить детальную информацию о текущих и ожидаемых погодных </a:t>
            </a:r>
            <a:r>
              <a:rPr lang="en-US" sz="2000" dirty="0" err="1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условиях</a:t>
            </a:r>
            <a:r>
              <a:rPr lang="en-US" sz="20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.</a:t>
            </a:r>
            <a:r>
              <a:rPr lang="ru-RU" sz="20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Понимание</a:t>
            </a:r>
            <a:r>
              <a:rPr lang="en-US" sz="20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этих</a:t>
            </a:r>
            <a:r>
              <a:rPr lang="en-US" sz="20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помогает их применять на практике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5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GitHub - open-meteo/open-meteo: Free Weather Forecast API for  non-commercial us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0959" y="2095618"/>
            <a:ext cx="4604742" cy="4604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0090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6640" y="594122"/>
            <a:ext cx="8306514" cy="460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Основные </a:t>
            </a:r>
            <a:r>
              <a:rPr lang="en-US" sz="3600" dirty="0" err="1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категории</a:t>
            </a:r>
            <a:r>
              <a:rPr lang="en-US" sz="3600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данных</a:t>
            </a:r>
            <a:endParaRPr lang="en-US" sz="3600" dirty="0">
              <a:solidFill>
                <a:srgbClr val="201B18"/>
              </a:solidFill>
              <a:latin typeface="Times New Roman" panose="02020603050405020304" pitchFamily="18" charset="0"/>
              <a:ea typeface="Platypi Medium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6640" y="1458218"/>
            <a:ext cx="13157121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API Open-Meteo предлагает разнообразные параметры, каждый из которых имеет уникальное практическое применение. Ниже представлена таблица с ключевыми категориями данных и примерами их использования.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28449" y="2585204"/>
            <a:ext cx="2256353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312469" y="2585204"/>
            <a:ext cx="356675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312468" y="2585204"/>
            <a:ext cx="10141507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28449" y="3410783"/>
            <a:ext cx="2256353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12469" y="3410783"/>
            <a:ext cx="3566755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12470" y="3410783"/>
            <a:ext cx="10141506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4260" y="4118253"/>
            <a:ext cx="13141881" cy="82557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28449" y="4236363"/>
            <a:ext cx="2256353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312469" y="4236363"/>
            <a:ext cx="3566755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312470" y="4236363"/>
            <a:ext cx="10141505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28449" y="5061942"/>
            <a:ext cx="2256353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312469" y="5061942"/>
            <a:ext cx="3566755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312468" y="5061942"/>
            <a:ext cx="10141507" cy="884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44260" y="6064091"/>
            <a:ext cx="13141881" cy="82557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28449" y="6182201"/>
            <a:ext cx="2256353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312469" y="6182201"/>
            <a:ext cx="356675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312468" y="6182201"/>
            <a:ext cx="10141507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28449" y="7007781"/>
            <a:ext cx="2256353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312469" y="7007781"/>
            <a:ext cx="356675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312468" y="7007781"/>
            <a:ext cx="10141507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1" name="Таблица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529602"/>
              </p:ext>
            </p:extLst>
          </p:nvPr>
        </p:nvGraphicFramePr>
        <p:xfrm>
          <a:off x="770513" y="2585204"/>
          <a:ext cx="12217422" cy="4896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40360"/>
                <a:gridCol w="8977062"/>
              </a:tblGrid>
              <a:tr h="781055">
                <a:tc>
                  <a:txBody>
                    <a:bodyPr/>
                    <a:lstStyle/>
                    <a:p>
                      <a:pPr marL="0" marR="0" indent="0" algn="ctr" defTabSz="12960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 smtClean="0"/>
                        <a:t>Температура</a:t>
                      </a:r>
                      <a:endParaRPr lang="en-US" sz="2000" dirty="0" smtClean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12960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 smtClean="0"/>
                        <a:t>Планирование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нагрузки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на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электросети</a:t>
                      </a:r>
                      <a:r>
                        <a:rPr lang="en-US" sz="2000" dirty="0" smtClean="0"/>
                        <a:t>, </a:t>
                      </a:r>
                      <a:r>
                        <a:rPr lang="en-US" sz="2000" dirty="0" err="1" smtClean="0"/>
                        <a:t>рекомендации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по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одежде</a:t>
                      </a:r>
                      <a:r>
                        <a:rPr lang="en-US" sz="2000" dirty="0" smtClean="0"/>
                        <a:t>, </a:t>
                      </a:r>
                      <a:r>
                        <a:rPr lang="en-US" sz="2000" dirty="0" err="1" smtClean="0"/>
                        <a:t>управление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отоплением</a:t>
                      </a:r>
                      <a:r>
                        <a:rPr lang="en-US" sz="2000" dirty="0" smtClean="0"/>
                        <a:t>/</a:t>
                      </a:r>
                      <a:r>
                        <a:rPr lang="en-US" sz="2000" dirty="0" err="1" smtClean="0"/>
                        <a:t>кондиционированием</a:t>
                      </a:r>
                      <a:r>
                        <a:rPr lang="en-US" sz="2000" dirty="0" smtClean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5464">
                <a:tc>
                  <a:txBody>
                    <a:bodyPr/>
                    <a:lstStyle/>
                    <a:p>
                      <a:pPr marL="0" marR="0" indent="0" algn="ctr" defTabSz="12960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 smtClean="0"/>
                        <a:t>Атмосферные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явления</a:t>
                      </a:r>
                      <a:endParaRPr lang="en-US" sz="2000" dirty="0" smtClean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12960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 smtClean="0"/>
                        <a:t>Предупреждения</a:t>
                      </a:r>
                      <a:r>
                        <a:rPr lang="en-US" sz="2000" dirty="0" smtClean="0"/>
                        <a:t> о </a:t>
                      </a:r>
                      <a:r>
                        <a:rPr lang="en-US" sz="2000" dirty="0" err="1" smtClean="0"/>
                        <a:t>непогоде</a:t>
                      </a:r>
                      <a:r>
                        <a:rPr lang="en-US" sz="2000" dirty="0" smtClean="0"/>
                        <a:t>, </a:t>
                      </a:r>
                      <a:r>
                        <a:rPr lang="en-US" sz="2000" dirty="0" err="1" smtClean="0"/>
                        <a:t>планирование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сельхозработ</a:t>
                      </a:r>
                      <a:r>
                        <a:rPr lang="en-US" sz="2000" dirty="0" smtClean="0"/>
                        <a:t> (</a:t>
                      </a:r>
                      <a:r>
                        <a:rPr lang="en-US" sz="2000" dirty="0" err="1" smtClean="0"/>
                        <a:t>полив</a:t>
                      </a:r>
                      <a:r>
                        <a:rPr lang="en-US" sz="2000" dirty="0" smtClean="0"/>
                        <a:t>), </a:t>
                      </a:r>
                      <a:r>
                        <a:rPr lang="en-US" sz="2000" dirty="0" err="1" smtClean="0"/>
                        <a:t>управление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дорожными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службами</a:t>
                      </a:r>
                      <a:r>
                        <a:rPr lang="en-US" sz="2000" dirty="0" smtClean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5464">
                <a:tc>
                  <a:txBody>
                    <a:bodyPr/>
                    <a:lstStyle/>
                    <a:p>
                      <a:pPr marL="0" marR="0" indent="0" algn="ctr" defTabSz="12960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 smtClean="0"/>
                        <a:t>Ветер</a:t>
                      </a:r>
                      <a:endParaRPr lang="en-US" sz="2000" dirty="0" smtClean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12960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 smtClean="0"/>
                        <a:t>Оценка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потенциала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ветроэнергетики</a:t>
                      </a:r>
                      <a:r>
                        <a:rPr lang="en-US" sz="2000" dirty="0" smtClean="0"/>
                        <a:t>, </a:t>
                      </a:r>
                      <a:r>
                        <a:rPr lang="en-US" sz="2000" dirty="0" err="1" smtClean="0"/>
                        <a:t>безопасность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авиации</a:t>
                      </a:r>
                      <a:r>
                        <a:rPr lang="en-US" sz="2000" dirty="0" smtClean="0"/>
                        <a:t> и </a:t>
                      </a:r>
                      <a:r>
                        <a:rPr lang="en-US" sz="2000" dirty="0" err="1" smtClean="0"/>
                        <a:t>морских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перевозок</a:t>
                      </a:r>
                      <a:r>
                        <a:rPr lang="en-US" sz="2000" dirty="0" smtClean="0"/>
                        <a:t>, </a:t>
                      </a:r>
                      <a:r>
                        <a:rPr lang="en-US" sz="2000" dirty="0" err="1" smtClean="0"/>
                        <a:t>прогноз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распространения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дыма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от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пожаров</a:t>
                      </a:r>
                      <a:r>
                        <a:rPr lang="en-US" sz="2000" dirty="0" smtClean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5464">
                <a:tc>
                  <a:txBody>
                    <a:bodyPr/>
                    <a:lstStyle/>
                    <a:p>
                      <a:pPr marL="0" marR="0" indent="0" algn="ctr" defTabSz="12960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 smtClean="0"/>
                        <a:t>Облачность</a:t>
                      </a:r>
                      <a:r>
                        <a:rPr lang="en-US" sz="2000" dirty="0" smtClean="0"/>
                        <a:t> и </a:t>
                      </a:r>
                      <a:r>
                        <a:rPr lang="en-US" sz="2000" dirty="0" err="1" smtClean="0"/>
                        <a:t>радиация</a:t>
                      </a:r>
                      <a:endParaRPr lang="en-US" sz="2000" dirty="0" smtClean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l" defTabSz="12960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 smtClean="0"/>
                        <a:t>Прогноз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выработки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солнечных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электростанций</a:t>
                      </a:r>
                      <a:r>
                        <a:rPr lang="en-US" sz="2000" dirty="0" smtClean="0"/>
                        <a:t>, </a:t>
                      </a:r>
                      <a:r>
                        <a:rPr lang="en-US" sz="2000" dirty="0" err="1" smtClean="0"/>
                        <a:t>рекомендации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по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защите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от</a:t>
                      </a:r>
                      <a:r>
                        <a:rPr lang="en-US" sz="2000" dirty="0" smtClean="0"/>
                        <a:t> УФ-</a:t>
                      </a:r>
                      <a:r>
                        <a:rPr lang="en-US" sz="2000" dirty="0" err="1" smtClean="0"/>
                        <a:t>излучения</a:t>
                      </a:r>
                      <a:r>
                        <a:rPr lang="en-US" sz="2000" dirty="0" smtClean="0"/>
                        <a:t>, </a:t>
                      </a:r>
                      <a:r>
                        <a:rPr lang="en-US" sz="2000" dirty="0" err="1" smtClean="0"/>
                        <a:t>оценка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эффективности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фотосинтеза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растений</a:t>
                      </a:r>
                      <a:r>
                        <a:rPr lang="en-US" sz="2000" dirty="0" smtClean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786696">
                <a:tc>
                  <a:txBody>
                    <a:bodyPr/>
                    <a:lstStyle/>
                    <a:p>
                      <a:pPr marL="0" marR="0" indent="0" algn="ctr" defTabSz="12960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 smtClean="0"/>
                        <a:t>Влажность</a:t>
                      </a:r>
                      <a:r>
                        <a:rPr lang="en-US" sz="2000" dirty="0" smtClean="0"/>
                        <a:t> и </a:t>
                      </a:r>
                      <a:r>
                        <a:rPr lang="en-US" sz="2000" dirty="0" err="1" smtClean="0"/>
                        <a:t>давление</a:t>
                      </a:r>
                      <a:endParaRPr lang="en-US" sz="2000" dirty="0" smtClean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12960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 smtClean="0"/>
                        <a:t>Прогноз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комфортности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погоды</a:t>
                      </a:r>
                      <a:r>
                        <a:rPr lang="en-US" sz="2000" dirty="0" smtClean="0"/>
                        <a:t>, </a:t>
                      </a:r>
                      <a:r>
                        <a:rPr lang="en-US" sz="2000" dirty="0" err="1" smtClean="0"/>
                        <a:t>оценка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риска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обледенения</a:t>
                      </a:r>
                      <a:r>
                        <a:rPr lang="en-US" sz="2000" dirty="0" smtClean="0"/>
                        <a:t>, </a:t>
                      </a:r>
                      <a:r>
                        <a:rPr lang="en-US" sz="2000" dirty="0" err="1" smtClean="0"/>
                        <a:t>использование</a:t>
                      </a:r>
                      <a:r>
                        <a:rPr lang="en-US" sz="2000" dirty="0" smtClean="0"/>
                        <a:t> в </a:t>
                      </a:r>
                      <a:r>
                        <a:rPr lang="en-US" sz="2000" dirty="0" err="1" smtClean="0"/>
                        <a:t>метеорологических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моделях</a:t>
                      </a:r>
                      <a:r>
                        <a:rPr lang="en-US" sz="2000" dirty="0" smtClean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2582">
                <a:tc>
                  <a:txBody>
                    <a:bodyPr/>
                    <a:lstStyle/>
                    <a:p>
                      <a:pPr marL="0" marR="0" indent="0" algn="ctr" defTabSz="12960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 smtClean="0"/>
                        <a:t>Воздушные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массы</a:t>
                      </a:r>
                      <a:endParaRPr lang="en-US" sz="2000" dirty="0" smtClean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l" defTabSz="12960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 smtClean="0"/>
                        <a:t>Планирование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высотных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строительных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работ</a:t>
                      </a:r>
                      <a:r>
                        <a:rPr lang="en-US" sz="2000" dirty="0" smtClean="0"/>
                        <a:t>, </a:t>
                      </a:r>
                      <a:r>
                        <a:rPr lang="en-US" sz="2000" dirty="0" err="1" smtClean="0"/>
                        <a:t>анализ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для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альпинизма</a:t>
                      </a:r>
                      <a:r>
                        <a:rPr lang="en-US" sz="2000" dirty="0" smtClean="0"/>
                        <a:t> и </a:t>
                      </a:r>
                      <a:r>
                        <a:rPr lang="en-US" sz="2000" dirty="0" err="1" smtClean="0"/>
                        <a:t>авиации</a:t>
                      </a:r>
                      <a:r>
                        <a:rPr lang="en-US" sz="2000" dirty="0" smtClean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1429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/>
          <p:cNvSpPr/>
          <p:nvPr/>
        </p:nvSpPr>
        <p:spPr>
          <a:xfrm>
            <a:off x="720180" y="617935"/>
            <a:ext cx="10601920" cy="465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3600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Превращая данные в </a:t>
            </a:r>
            <a:r>
              <a:rPr lang="ru-RU" sz="3600" dirty="0" smtClean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действия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720180" y="1510501"/>
            <a:ext cx="13140690" cy="595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Основная задача — преобразовать </a:t>
            </a:r>
            <a:r>
              <a:rPr lang="en-US" sz="20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данные </a:t>
            </a: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в действительную информацию или автоматизированное действие. Рассмотрим несколько ключевых направлений.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720180" y="2683951"/>
            <a:ext cx="4005382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800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Персонализация для пользователя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20180" y="3158510"/>
            <a:ext cx="5990511" cy="595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Прогноз "Что надеть?": Алгоритм на основе температуры, осадков и ветра.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20180" y="3819425"/>
            <a:ext cx="5990511" cy="893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Уведомления для чувствительных групп: Предупреждения при резких перепадах атмосферного давления для людей с сердечно-сосудистыми заболеваниями.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7383632" y="2683951"/>
            <a:ext cx="4270534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800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Автоматизация в умном доме/городе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7383632" y="3158510"/>
            <a:ext cx="5990511" cy="595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Управление климатом: Автоматическое включение обогревателя при прогнозе похолодания.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7383632" y="3819425"/>
            <a:ext cx="5990511" cy="595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Эффективный полив: Отмена полива в парках при высокой вероятности дождя.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720180" y="5405725"/>
            <a:ext cx="3862387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800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Бизнес-аналитика и оптимизация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720180" y="5880283"/>
            <a:ext cx="5990511" cy="595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Динамическое ценообразование: Повышение цен на мороженое в жаркие дни.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720180" y="6541199"/>
            <a:ext cx="5990511" cy="595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Управление логистикой: Корректировка маршрутов служб доставки с учетом погодных условий.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7383632" y="5405725"/>
            <a:ext cx="4348877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800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Создание новых цифровых продуктов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7383632" y="5880283"/>
            <a:ext cx="5990511" cy="893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Специализированные метеосервисы: Приложения для садоводов (прогноз заморозков) или сноубордистов (прогноз снегопада).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7383632" y="6839093"/>
            <a:ext cx="5990511" cy="595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Визуализация данных: Интерактивные карты для яхтсменов с данными о ветре.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797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2"/>
          <p:cNvSpPr/>
          <p:nvPr/>
        </p:nvSpPr>
        <p:spPr>
          <a:xfrm>
            <a:off x="4065915" y="725328"/>
            <a:ext cx="5918941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600" dirty="0" err="1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Умное</a:t>
            </a:r>
            <a:r>
              <a:rPr lang="en-US" sz="3600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беговое приложение</a:t>
            </a:r>
          </a:p>
        </p:txBody>
      </p:sp>
      <p:sp>
        <p:nvSpPr>
          <p:cNvPr id="8" name="Text 3"/>
          <p:cNvSpPr/>
          <p:nvPr/>
        </p:nvSpPr>
        <p:spPr>
          <a:xfrm>
            <a:off x="4032548" y="1386210"/>
            <a:ext cx="9865096" cy="461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Представьте, что вы разрабатываете мобильное приложение для бегунов. Как можно использовать погодные данные для улучшения пользовательского опыта?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4032548" y="2342520"/>
            <a:ext cx="2226512" cy="225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800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Запрос данных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4032548" y="2744460"/>
            <a:ext cx="9865096" cy="461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Получение почасовых данных о </a:t>
            </a:r>
            <a:r>
              <a:rPr lang="en-US" sz="2000" dirty="0" err="1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температуре</a:t>
            </a:r>
            <a:r>
              <a:rPr lang="en-US" sz="20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осадках</a:t>
            </a: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и УФ-</a:t>
            </a:r>
            <a:r>
              <a:rPr lang="en-US" sz="2000" dirty="0" err="1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индексе</a:t>
            </a:r>
            <a:r>
              <a:rPr lang="en-US" sz="20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на ближайшие 12 часов.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4032548" y="3700785"/>
            <a:ext cx="2226512" cy="225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800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Анализ условий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4032548" y="4102725"/>
            <a:ext cx="9865096" cy="461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Алгоритм оценивает каждый час на предмет комфортности для бега, учитывая факторы: слишком жарко, холодно, дождливо, высокий УФ.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4032548" y="5059050"/>
            <a:ext cx="3352556" cy="225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800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Формирование рекомендаций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4032548" y="5460990"/>
            <a:ext cx="9865096" cy="461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Приложение рекомендует лучшее время для пробежки сегодня и предлагает надеть кепку или солнцезащитный крем при высоком УФ-индексе.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4032548" y="7146488"/>
            <a:ext cx="9865096" cy="692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бегущий человек на прозрачном фоне 30 фото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0" r="12828"/>
          <a:stretch/>
        </p:blipFill>
        <p:spPr bwMode="auto">
          <a:xfrm>
            <a:off x="0" y="1721166"/>
            <a:ext cx="3637723" cy="487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1429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2"/>
          <p:cNvSpPr/>
          <p:nvPr/>
        </p:nvSpPr>
        <p:spPr>
          <a:xfrm>
            <a:off x="729614" y="666130"/>
            <a:ext cx="6875145" cy="456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3600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Влияние погодных данных на отрасли</a:t>
            </a:r>
          </a:p>
        </p:txBody>
      </p:sp>
      <p:sp>
        <p:nvSpPr>
          <p:cNvPr id="8" name="Text 3"/>
          <p:cNvSpPr/>
          <p:nvPr/>
        </p:nvSpPr>
        <p:spPr>
          <a:xfrm>
            <a:off x="729614" y="1395745"/>
            <a:ext cx="8991565" cy="875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Погодные данные играют фундаментальную роль в различных сферах человеческой деятельности, влияя на безопасность, экономику и повседневную жизнь.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729615" y="2394322"/>
            <a:ext cx="4455061" cy="1167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800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Безопасность:</a:t>
            </a:r>
            <a:r>
              <a:rPr lang="en-US" sz="18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</a:t>
            </a:r>
            <a:r>
              <a:rPr lang="ru-RU" sz="18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п</a:t>
            </a:r>
            <a:r>
              <a:rPr lang="en-US" sz="1800" dirty="0" err="1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редупреждения</a:t>
            </a:r>
            <a:r>
              <a:rPr lang="en-US" sz="18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о стихийных бедствиях, безопасность авиации и мореплавания.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729615" y="3546450"/>
            <a:ext cx="4455061" cy="875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800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Сельское хозяйство:</a:t>
            </a:r>
            <a:r>
              <a:rPr lang="en-US" sz="18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</a:t>
            </a:r>
            <a:r>
              <a:rPr lang="ru-RU" sz="18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п</a:t>
            </a:r>
            <a:r>
              <a:rPr lang="en-US" sz="1800" dirty="0" err="1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ланирование</a:t>
            </a:r>
            <a:r>
              <a:rPr lang="en-US" sz="18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работ, защита растений, управление ирригацией.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729615" y="4914602"/>
            <a:ext cx="4455061" cy="1167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800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Энергетика:</a:t>
            </a:r>
            <a:r>
              <a:rPr lang="en-US" sz="18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Управление нагрузкой, оптимизация ВИЭ (ветряные, солнечные станции), теплоснабжение.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729615" y="6394966"/>
            <a:ext cx="4455061" cy="1167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800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Транспорт и логистика:</a:t>
            </a:r>
            <a:r>
              <a:rPr lang="en-US" sz="18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</a:t>
            </a:r>
            <a:r>
              <a:rPr lang="ru-RU" sz="18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п</a:t>
            </a:r>
            <a:r>
              <a:rPr lang="en-US" sz="1800" dirty="0" err="1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одготовка</a:t>
            </a:r>
            <a:r>
              <a:rPr lang="en-US" sz="18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дорожных служб, планирование маршрутов доставки.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5328692" y="2394322"/>
            <a:ext cx="4267929" cy="875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800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Строительство:</a:t>
            </a:r>
            <a:r>
              <a:rPr lang="en-US" sz="18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</a:t>
            </a:r>
            <a:r>
              <a:rPr lang="ru-RU" sz="18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п</a:t>
            </a:r>
            <a:r>
              <a:rPr lang="en-US" sz="1800" dirty="0" err="1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ланирование</a:t>
            </a:r>
            <a:r>
              <a:rPr lang="en-US" sz="18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работ в зависимости от погодных условий, защита объектов.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5328692" y="3546450"/>
            <a:ext cx="4267929" cy="1167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800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Розничная торговля:</a:t>
            </a:r>
            <a:r>
              <a:rPr lang="en-US" sz="18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</a:t>
            </a:r>
            <a:r>
              <a:rPr lang="ru-RU" sz="18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у</a:t>
            </a:r>
            <a:r>
              <a:rPr lang="en-US" sz="1800" dirty="0" err="1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правление</a:t>
            </a:r>
            <a:r>
              <a:rPr lang="en-US" sz="18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ассортиментом, динамическое ценообразование, маркетинговые кампании.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5328692" y="4914602"/>
            <a:ext cx="4267929" cy="1167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800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Здравоохранение:</a:t>
            </a:r>
            <a:r>
              <a:rPr lang="en-US" sz="18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</a:t>
            </a:r>
            <a:r>
              <a:rPr lang="ru-RU" sz="18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п</a:t>
            </a:r>
            <a:r>
              <a:rPr lang="en-US" sz="1800" dirty="0" err="1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редупреждения</a:t>
            </a:r>
            <a:r>
              <a:rPr lang="en-US" sz="18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о жаре/холоде, анализ влияния погоды на распространение заболеваний.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5328692" y="6394966"/>
            <a:ext cx="4267929" cy="875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800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Туризм:</a:t>
            </a:r>
            <a:r>
              <a:rPr lang="en-US" sz="18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</a:t>
            </a:r>
            <a:r>
              <a:rPr lang="ru-RU" sz="18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о</a:t>
            </a:r>
            <a:r>
              <a:rPr lang="en-US" sz="1800" dirty="0" err="1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рганизация</a:t>
            </a:r>
            <a:r>
              <a:rPr lang="en-US" sz="18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мероприятий, планирование активного отдыха.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значки погоды | Премиум вектор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10" t="10922" r="13480" b="13600"/>
          <a:stretch/>
        </p:blipFill>
        <p:spPr bwMode="auto">
          <a:xfrm>
            <a:off x="9721180" y="1748049"/>
            <a:ext cx="4353339" cy="4500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1429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2"/>
          <p:cNvSpPr/>
          <p:nvPr/>
        </p:nvSpPr>
        <p:spPr>
          <a:xfrm>
            <a:off x="724599" y="666130"/>
            <a:ext cx="6152912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600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Погода и наша повседневность</a:t>
            </a:r>
          </a:p>
        </p:txBody>
      </p:sp>
      <p:sp>
        <p:nvSpPr>
          <p:cNvPr id="8" name="Text 3"/>
          <p:cNvSpPr/>
          <p:nvPr/>
        </p:nvSpPr>
        <p:spPr>
          <a:xfrm>
            <a:off x="724599" y="1459920"/>
            <a:ext cx="1302902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Помимо крупных промышленных и государственных применений, данные о погоде глубоко интегрированы в нашу повседневную жизнь, помогая нам принимать маленькие, но важные решения.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4"/>
          <p:cNvSpPr/>
          <p:nvPr/>
        </p:nvSpPr>
        <p:spPr>
          <a:xfrm>
            <a:off x="720180" y="253833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Планирование дня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5"/>
          <p:cNvSpPr/>
          <p:nvPr/>
        </p:nvSpPr>
        <p:spPr>
          <a:xfrm>
            <a:off x="720180" y="2967558"/>
            <a:ext cx="1015312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Решения о том, как одеться, брать ли зонт, ехать ли на машине или идти пешком — все это зависит от прогноза погоды.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6"/>
          <p:cNvSpPr/>
          <p:nvPr/>
        </p:nvSpPr>
        <p:spPr>
          <a:xfrm>
            <a:off x="765041" y="419452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Досуг и активность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7"/>
          <p:cNvSpPr/>
          <p:nvPr/>
        </p:nvSpPr>
        <p:spPr>
          <a:xfrm>
            <a:off x="720180" y="4623742"/>
            <a:ext cx="1015312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Планирование пикника, поездки на дачу, прогулки, рыбалки или других активностей становится более эффективным с учетом погодных условий.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20180" y="592271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Энергосбережение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9"/>
          <p:cNvSpPr/>
          <p:nvPr/>
        </p:nvSpPr>
        <p:spPr>
          <a:xfrm>
            <a:off x="720180" y="6351935"/>
            <a:ext cx="1015312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Осознанное использование отопления или кондиционирования, основанное на прогнозах, помогает экономить ресурсы.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429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/>
          <p:cNvSpPr/>
          <p:nvPr/>
        </p:nvSpPr>
        <p:spPr>
          <a:xfrm>
            <a:off x="793790" y="738138"/>
            <a:ext cx="811851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600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Наука и </a:t>
            </a:r>
            <a:r>
              <a:rPr lang="en-US" sz="3600" dirty="0" err="1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инновации</a:t>
            </a:r>
            <a:endParaRPr lang="en-US" sz="3600" dirty="0">
              <a:solidFill>
                <a:srgbClr val="201B18"/>
              </a:solidFill>
              <a:latin typeface="Times New Roman" panose="02020603050405020304" pitchFamily="18" charset="0"/>
              <a:ea typeface="Platypi Medium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827156" y="1746250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Научные исследования и постоянное совершенствование прогностических моделей являются залогом повышения точности и расширения возможностей применения погодных данных.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793790" y="2610346"/>
            <a:ext cx="81185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b="1" dirty="0" err="1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Климатология</a:t>
            </a:r>
            <a:r>
              <a:rPr lang="ru-RU" sz="20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: д</a:t>
            </a:r>
            <a:r>
              <a:rPr lang="en-US" sz="2000" dirty="0" err="1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олгосрочный</a:t>
            </a:r>
            <a:r>
              <a:rPr lang="en-US" sz="20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анализ погодных данных помогает в понимании и прогнозировании изменений климата.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93790" y="3632378"/>
            <a:ext cx="81185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b="1" dirty="0" err="1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Моделирование</a:t>
            </a:r>
            <a:r>
              <a:rPr lang="ru-RU" sz="2000" b="1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: п</a:t>
            </a:r>
            <a:r>
              <a:rPr lang="en-US" sz="2000" dirty="0" err="1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остоянное</a:t>
            </a:r>
            <a:r>
              <a:rPr lang="en-US" sz="20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улучшение прогностических моделей для повышения точности и детализации прогнозов.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793790" y="4711571"/>
            <a:ext cx="8118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b="1" dirty="0" err="1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Образование</a:t>
            </a:r>
            <a:r>
              <a:rPr lang="ru-RU" sz="2000" b="1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: и</a:t>
            </a:r>
            <a:r>
              <a:rPr lang="en-US" sz="2000" dirty="0" err="1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спользование</a:t>
            </a:r>
            <a:r>
              <a:rPr lang="en-US" sz="20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данных в учебных целях для будущих специалистов в области метеорологии и данных.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793790" y="6151731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Инвестиции в научные разработки в этой сфере критически важны для формирования более устойчивого и предсказуемого будущего.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429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2"/>
          <p:cNvSpPr/>
          <p:nvPr/>
        </p:nvSpPr>
        <p:spPr>
          <a:xfrm>
            <a:off x="649962" y="818436"/>
            <a:ext cx="5447824" cy="406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Погода как стратегический ресурс</a:t>
            </a:r>
            <a:endParaRPr lang="en-US" sz="3600" dirty="0"/>
          </a:p>
        </p:txBody>
      </p:sp>
      <p:sp>
        <p:nvSpPr>
          <p:cNvPr id="8" name="Text 3"/>
          <p:cNvSpPr/>
          <p:nvPr/>
        </p:nvSpPr>
        <p:spPr>
          <a:xfrm>
            <a:off x="649962" y="1686232"/>
            <a:ext cx="7844076" cy="78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Данные о </a:t>
            </a:r>
            <a:r>
              <a:rPr lang="en-US" sz="2000" dirty="0" err="1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погоде</a:t>
            </a: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- </a:t>
            </a:r>
            <a:r>
              <a:rPr lang="en-US" sz="2000" dirty="0" err="1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стратегический</a:t>
            </a:r>
            <a:r>
              <a:rPr lang="en-US" sz="20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ресурс, способный существенно повысить эффективность, безопасность и комфорт в самых разных сферах.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5"/>
          <p:cNvSpPr/>
          <p:nvPr/>
        </p:nvSpPr>
        <p:spPr>
          <a:xfrm>
            <a:off x="649962" y="2826370"/>
            <a:ext cx="6694954" cy="1391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От сырых данных к </a:t>
            </a:r>
            <a:r>
              <a:rPr lang="en-US" sz="2000" dirty="0" err="1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ценным</a:t>
            </a: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инсайтам</a:t>
            </a:r>
            <a:endParaRPr lang="en-US" sz="2000" dirty="0" smtClean="0">
              <a:solidFill>
                <a:srgbClr val="504C49"/>
              </a:solidFill>
              <a:latin typeface="Times New Roman" panose="02020603050405020304" pitchFamily="18" charset="0"/>
              <a:ea typeface="Platypi Medium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Автоматизация</a:t>
            </a: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 и </a:t>
            </a:r>
            <a:r>
              <a:rPr lang="en-US" sz="2000" dirty="0" err="1" smtClean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оптимизация</a:t>
            </a:r>
            <a:endParaRPr lang="en-US" sz="2000" dirty="0" smtClean="0">
              <a:solidFill>
                <a:srgbClr val="504C49"/>
              </a:solidFill>
              <a:latin typeface="Times New Roman" panose="02020603050405020304" pitchFamily="18" charset="0"/>
              <a:ea typeface="Platypi Medium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Инновации</a:t>
            </a: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 и </a:t>
            </a:r>
            <a:r>
              <a:rPr lang="en-US" sz="2000" dirty="0" err="1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рост</a:t>
            </a: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бизнеса</a:t>
            </a:r>
            <a:endParaRPr lang="en-US" sz="2000" dirty="0" smtClean="0">
              <a:solidFill>
                <a:srgbClr val="504C49"/>
              </a:solidFill>
              <a:latin typeface="Times New Roman" panose="02020603050405020304" pitchFamily="18" charset="0"/>
              <a:ea typeface="Platypi Medium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Формирование</a:t>
            </a: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устойчивого</a:t>
            </a: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будущего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ts val="195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ts val="195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7"/>
          <p:cNvSpPr/>
          <p:nvPr/>
        </p:nvSpPr>
        <p:spPr>
          <a:xfrm>
            <a:off x="1462326" y="3731062"/>
            <a:ext cx="3094315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1"/>
          <p:cNvSpPr/>
          <p:nvPr/>
        </p:nvSpPr>
        <p:spPr>
          <a:xfrm>
            <a:off x="1462326" y="6005870"/>
            <a:ext cx="3832979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550" dirty="0"/>
          </a:p>
        </p:txBody>
      </p:sp>
      <p:sp>
        <p:nvSpPr>
          <p:cNvPr id="21" name="Text 12"/>
          <p:cNvSpPr/>
          <p:nvPr/>
        </p:nvSpPr>
        <p:spPr>
          <a:xfrm>
            <a:off x="649962" y="4338538"/>
            <a:ext cx="7844076" cy="78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 err="1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Использование</a:t>
            </a: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метеоданных </a:t>
            </a:r>
            <a:r>
              <a:rPr lang="en-US" sz="2000" dirty="0" err="1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позволяет</a:t>
            </a:r>
            <a:r>
              <a:rPr lang="en-US" sz="2000" dirty="0" smtClean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специалистам по данным и продуктовым менеджерам создавать передовые решения, которые приносят реальную пользу, делая наш мир более адаптивным к меняющимся условиям.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4297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819</Words>
  <Application>Microsoft Office PowerPoint</Application>
  <PresentationFormat>Произвольный</PresentationFormat>
  <Paragraphs>71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Никита</dc:creator>
  <cp:lastModifiedBy>Admin</cp:lastModifiedBy>
  <cp:revision>4</cp:revision>
  <dcterms:created xsi:type="dcterms:W3CDTF">2026-01-03T10:52:44Z</dcterms:created>
  <dcterms:modified xsi:type="dcterms:W3CDTF">2026-01-03T11:30:30Z</dcterms:modified>
</cp:coreProperties>
</file>